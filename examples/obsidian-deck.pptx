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548640" cy="109728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400">
                <a:solidFill>
                  <a:srgbClr val="3A8C91"/>
                </a:solidFill>
                <a:latin typeface="Aptos"/>
              </a:rPr>
              <a:t>OBSIDIAN GROUP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 Display"/>
              </a:rPr>
              <a:t>Change programme focuses on customer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EF1F3"/>
                </a:solidFill>
                <a:latin typeface="Aptos"/>
              </a:rPr>
              <a:t>Change strategy brief —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2C343C"/>
                </a:solidFill>
                <a:latin typeface="Aptos"/>
              </a:rPr>
              <a:t>The programme aims to improve customer experience, consistency, and reduce repetitive manual work. A weekly change dashboard will be created for executives and regional leaders. Store managers will receive a manager enablement pack before the next regional rollout wave. Customer service communications will include a clear statement on role impact, retraining, and support. </a:t>
            </a:r>
          </a:p>
        </p:txBody>
      </p:sp>
      <p:sp>
        <p:nvSpPr>
          <p:cNvPr id="6" name="Rectangle 5"/>
          <p:cNvSpPr/>
          <p:nvPr/>
        </p:nvSpPr>
        <p:spPr>
          <a:xfrm>
            <a:off x="9722815" y="1005840"/>
            <a:ext cx="1828800" cy="29260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2815" y="100584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spc="200">
                <a:solidFill>
                  <a:srgbClr val="FFFFFF"/>
                </a:solidFill>
                <a:latin typeface="Aptos"/>
              </a:rPr>
              <a:t>MEDIUM CONFIDENCE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Sources: Obsidian_Group_AI_Call_Notes.docx, Obsidian_Group_Change_Data_Pack.xlsx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Themes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410047" cy="1463040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4864" cy="1463040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188720"/>
            <a:ext cx="513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D171E"/>
                </a:solidFill>
                <a:latin typeface="Aptos Display"/>
              </a:rPr>
              <a:t>Adoption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54480"/>
            <a:ext cx="513572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43C"/>
                </a:solidFill>
                <a:latin typeface="Aptos"/>
              </a:rPr>
              <a:t>Early pilot data suggests lower adoption where middle managers are not actively reinforcing the workflow, as noted in chunk 88ff9013-219f-4010-8e5d-e9e8277e3d15 and supported by chunk f8782ea2-9df1-4dc0-b643-ab69fb688764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051560"/>
            <a:ext cx="5410047" cy="1463040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7" y="1051560"/>
            <a:ext cx="54864" cy="1463040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0439" y="1188720"/>
            <a:ext cx="513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D171E"/>
                </a:solidFill>
                <a:latin typeface="Aptos Display"/>
              </a:rPr>
              <a:t>Data Quality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0439" y="1554480"/>
            <a:ext cx="513572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43C"/>
                </a:solidFill>
                <a:latin typeface="Aptos"/>
              </a:rPr>
              <a:t>Weekly reporting is currently manual and inconsistent, with teams using different templates and definitions, as noted in chunk 049e8e8a-4a1b-4306-a8ab-6473cb45ec87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5410047" cy="1463040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54864" cy="1463040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880360"/>
            <a:ext cx="513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D171E"/>
                </a:solidFill>
                <a:latin typeface="Aptos Display"/>
              </a:rPr>
              <a:t>Operational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246120"/>
            <a:ext cx="513572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43C"/>
                </a:solidFill>
                <a:latin typeface="Aptos"/>
              </a:rPr>
              <a:t>COO wants weekly adoption reporting by region, with a clear view of blockers, training completion, and support handling time, as noted in chunk 6a59282d-634b-4ff0-ae7c-7a8a6b3dbfd0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5847" y="2743200"/>
            <a:ext cx="5410047" cy="1463040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5847" y="2743200"/>
            <a:ext cx="54864" cy="1463040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0439" y="2880360"/>
            <a:ext cx="513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D171E"/>
                </a:solidFill>
                <a:latin typeface="Aptos Display"/>
              </a:rPr>
              <a:t>Regional Variance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0439" y="3246120"/>
            <a:ext cx="513572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43C"/>
                </a:solidFill>
                <a:latin typeface="Aptos"/>
              </a:rPr>
              <a:t>Regional managers have mixed sentiment and are concerned about control over local rollout plans, as noted in chunk 4da71a7e-b807-4acd-bb06-12e125cb30ef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34840"/>
            <a:ext cx="5410047" cy="1463040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434840"/>
            <a:ext cx="54864" cy="1463040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4572000"/>
            <a:ext cx="513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D171E"/>
                </a:solidFill>
                <a:latin typeface="Aptos Display"/>
              </a:rPr>
              <a:t>Messaging Drift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4937760"/>
            <a:ext cx="513572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43C"/>
                </a:solidFill>
                <a:latin typeface="Aptos"/>
              </a:rPr>
              <a:t>Different decks and informal explanations are creating confusion and message drift, as noted in chunk 3e322362-8d82-483b-835e-49649eb0b34e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Sources: Obsidian_Group_AI_Call_Notes.docx, Obsidian_Group_Change_Data_Pack.xlsx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Key performance indicators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7294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6463"/>
                <a:gridCol w="2029913"/>
                <a:gridCol w="2255459"/>
                <a:gridCol w="2255459"/>
              </a:tblGrid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 Display"/>
                        </a:rPr>
                        <a:t>KPI</a:t>
                      </a:r>
                    </a:p>
                  </a:txBody>
                  <a:tcPr marL="91440" marR="91440" marT="54864" marB="54864" anchor="ctr">
                    <a:solidFill>
                      <a:srgbClr val="0D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 Display"/>
                        </a:rPr>
                        <a:t>Current</a:t>
                      </a:r>
                    </a:p>
                  </a:txBody>
                  <a:tcPr marL="91440" marR="91440" marT="54864" marB="54864" anchor="ctr">
                    <a:solidFill>
                      <a:srgbClr val="0D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 Display"/>
                        </a:rPr>
                        <a:t>Target</a:t>
                      </a:r>
                    </a:p>
                  </a:txBody>
                  <a:tcPr marL="91440" marR="91440" marT="54864" marB="54864" anchor="ctr">
                    <a:solidFill>
                      <a:srgbClr val="0D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 Display"/>
                        </a:rPr>
                        <a:t>Trend</a:t>
                      </a:r>
                    </a:p>
                  </a:txBody>
                  <a:tcPr marL="91440" marR="91440" marT="54864" marB="54864" anchor="ctr">
                    <a:solidFill>
                      <a:srgbClr val="0D171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Digital Workflow Adoption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0.88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80%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Customer Support Handling Time Reduction</a:t>
                      </a:r>
                    </a:p>
                  </a:txBody>
                  <a:tcPr marL="91440" marR="91440" marT="54864" marB="54864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11.6</a:t>
                      </a:r>
                    </a:p>
                  </a:txBody>
                  <a:tcPr marL="91440" marR="91440" marT="54864" marB="54864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20%</a:t>
                      </a:r>
                    </a:p>
                  </a:txBody>
                  <a:tcPr marL="91440" marR="91440" marT="54864" marB="54864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91440" marR="91440" marT="54864" marB="54864" anchor="ctr">
                    <a:solidFill>
                      <a:srgbClr val="EEF1F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Employee Sentiment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0.83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above 70%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Manual Reporting Effort Reduction</a:t>
                      </a:r>
                    </a:p>
                  </a:txBody>
                  <a:tcPr marL="91440" marR="91440" marT="54864" marB="54864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91440" marR="91440" marT="54864" marB="54864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30%</a:t>
                      </a:r>
                    </a:p>
                  </a:txBody>
                  <a:tcPr marL="91440" marR="91440" marT="54864" marB="54864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91440" marR="91440" marT="54864" marB="54864" anchor="ctr">
                    <a:solidFill>
                      <a:srgbClr val="EEF1F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Weekly Reporting Completion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Training Completion</a:t>
                      </a:r>
                    </a:p>
                  </a:txBody>
                  <a:tcPr marL="91440" marR="91440" marT="54864" marB="54864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0.96</a:t>
                      </a:r>
                    </a:p>
                  </a:txBody>
                  <a:tcPr marL="91440" marR="91440" marT="54864" marB="54864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above 90%</a:t>
                      </a:r>
                    </a:p>
                  </a:txBody>
                  <a:tcPr marL="91440" marR="91440" marT="54864" marB="54864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43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91440" marR="91440" marT="54864" marB="54864" anchor="ctr"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Sources: Obsidian_Group_AI_Call_Notes.docx, Obsidian_Group_Change_Data_Pack.xlsx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48640" cy="777240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097280"/>
            <a:ext cx="105000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D171E"/>
                </a:solidFill>
                <a:latin typeface="Aptos Display"/>
              </a:rPr>
              <a:t>Publish milestone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417320"/>
            <a:ext cx="105000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C343C"/>
                </a:solidFill>
                <a:latin typeface="Aptos"/>
              </a:rPr>
              <a:t>Publish a milestone map and decision log to mitigate rollout timeline uncertainty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38528"/>
            <a:ext cx="548640" cy="777240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38528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P2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984248"/>
            <a:ext cx="105000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D171E"/>
                </a:solidFill>
                <a:latin typeface="Aptos Display"/>
              </a:rPr>
              <a:t>Create programme narrative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04288"/>
            <a:ext cx="105000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C343C"/>
                </a:solidFill>
                <a:latin typeface="Aptos"/>
              </a:rPr>
              <a:t>Create a single programme narrative and communication pack to ensure consistent messaging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25496"/>
            <a:ext cx="548640" cy="777240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25496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871216"/>
            <a:ext cx="105000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D171E"/>
                </a:solidFill>
                <a:latin typeface="Aptos Display"/>
              </a:rPr>
              <a:t>Validate regional rollout 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191256"/>
            <a:ext cx="105000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C343C"/>
                </a:solidFill>
                <a:latin typeface="Aptos"/>
              </a:rPr>
              <a:t>Validate regional rollout dates with each regional director to resolve June/July ambiguity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12464"/>
            <a:ext cx="548640" cy="777240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12464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758184"/>
            <a:ext cx="105000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D171E"/>
                </a:solidFill>
                <a:latin typeface="Aptos Display"/>
              </a:rPr>
              <a:t>Establish executive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078224"/>
            <a:ext cx="105000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C343C"/>
                </a:solidFill>
                <a:latin typeface="Aptos"/>
              </a:rPr>
              <a:t>Confirm executive dashboard cadence and escalation thresholds to provide a weekly view by region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99432"/>
            <a:ext cx="548640" cy="777240"/>
          </a:xfrm>
          <a:prstGeom prst="rect">
            <a:avLst/>
          </a:prstGeom>
          <a:solidFill>
            <a:srgbClr val="3A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599432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P2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645152"/>
            <a:ext cx="105000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D171E"/>
                </a:solidFill>
                <a:latin typeface="Aptos Display"/>
              </a:rPr>
              <a:t>Develop sensitive communication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965192"/>
            <a:ext cx="105000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C343C"/>
                </a:solidFill>
                <a:latin typeface="Aptos"/>
              </a:rPr>
              <a:t>Develop a sensitive communication plan to address customer service teams' concerns around role changes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Sources: Obsidian_Group_Change_Data_Pack.xlsx, Obsidian_Group_AI_Call_Notes.docx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